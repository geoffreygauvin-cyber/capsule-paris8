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7435e7-1e24-ca3b-eb31-3633baeb700f}">
          <p14:sldIdLst>
            <p14:sldId id="256"/>
            <p14:sldId id="257"/>
          </p14:sldIdLst>
        </p14:section>
        <p14:section name="Le dispositif" id="{8c57a6c8-7858-d419-690b-04173b170f63}">
          <p14:sldIdLst>
            <p14:sldId id="258"/>
            <p14:sldId id="259"/>
            <p14:sldId id="260"/>
          </p14:sldIdLst>
        </p14:section>
        <p14:section name="Résultats" id="{06526df5-e024-ff36-deb9-df97fbec8fa9}">
          <p14:sldIdLst>
            <p14:sldId id="261"/>
            <p14:sldId id="262"/>
            <p14:sldId id="263"/>
          </p14:sldIdLst>
        </p14:section>
        <p14:section name="Perspectives" id="{7c8e5bfa-3e5c-05ef-c88e-590041b592a1}">
          <p14:sldIdLst>
            <p14:sldId id="264"/>
            <p14:sldId id="265"/>
            <p14:sldId id="266"/>
            <p14:sldId id="267"/>
          </p14:sldIdLst>
        </p14:section>
        <p14:section name="Default-1" id="{79ff6104-ee29-f206-ba69-5d22a313874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Séances</c:v>
                </c:pt>
              </c:strCache>
            </c:strRef>
          </c:tx>
          <c:spPr>
            <a:solidFill>
              <a:srgbClr val="AE16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2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Période 1</c:v>
                  </c:pt>
                  <c:pt idx="1">
                    <c:v>Période 2</c:v>
                  </c:pt>
                  <c:pt idx="2">
                    <c:v>Période 3</c:v>
                  </c:pt>
                  <c:pt idx="3">
                    <c:v>Période 4</c:v>
                  </c:pt>
                  <c:pt idx="4">
                    <c:v>Période 5</c:v>
                  </c:pt>
                  <c:pt idx="5">
                    <c:v>Période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28</c:v>
                </c:pt>
                <c:pt idx="2">
                  <c:v>35</c:v>
                </c:pt>
                <c:pt idx="3">
                  <c:v>22</c:v>
                </c:pt>
                <c:pt idx="4">
                  <c:v>30</c:v>
                </c:pt>
                <c:pt idx="5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12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E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 (par exemple « Bilan 2025-2026 »), la ligne du bas (instance, date) et, si besoin, le sous-titre.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en quatre points : la direction doit pouvoir s'arrêter ici. Ajustez la dernière ligne au contenu réel de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points qui répondent à : pourquoi ce dispositif ? Gardez les mêmes trois mots d'une présentation à l'autre.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type : adaptez les noms, ajoutez des niveaux si besoin (par exemple un·e responsable de pôle). Les traits sont des formes : ils se déplacent avec les cadres.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chiffres maximum. Indiquez toujours la période et la source. Les valeurs « 00 » sont à remplacer par celles du Suivi d'activité (demandes, séances, délai, satisfaction).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Graphique natif : clic droit &gt; Modifier les données pour saisir vos valeurs. Les données affichées sont un 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séparation. Gardez une phrase courte.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à adapter : gardez trois points de chaque côté, formulés de façon concrète (lieu, heures, budget, date).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jalons maximum. Remplacez les libellés par des dates précises (mois et année).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Ajoutez ou retirez des logos selon les partenaires de la présentation. Gardez la même hauteur de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fin : ajoutez le nom et la fonction de l'interlocuteur·rice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Titre-image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eux-colonnes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re-seul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Message-image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Fi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377440" cy="502832"/>
          </a:xfrm>
          <a:prstGeom prst="rect">
            <a:avLst/>
          </a:prstGeom>
        </p:spPr>
      </p:pic>
      <p:pic>
        <p:nvPicPr>
          <p:cNvPr id="3" name="Image 1" descr="Illustration : un ruban relie des étudiant·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896112"/>
            <a:ext cx="4023360" cy="50292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présentation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Sous-titre</a:t>
            </a:r>
            <a:endParaRPr lang="en-US" sz="1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Auteur·e · 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Texte principal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lonne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gauche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Colonne de droite</a:t>
            </a: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diapositive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CAPSULE · Université Paris 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943600"/>
            <a:ext cx="1920240" cy="40613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1554480"/>
            <a:ext cx="90525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tx2"/>
                </a:solidFill>
              </a:rPr>
              <a:t>Le message à retenir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44348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La phrase qui suit</a:t>
            </a:r>
            <a:endParaRPr lang="en-US" sz="26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S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2377440" cy="5028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Contact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173736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présentation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731520" y="42062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Une ou deux phrases pour présenter le sujet.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5806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Instance ·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Premier point à retenir, en une phrase.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Deuxième point à retenir, en une phrase.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Troisième point à retenir, en une phrase.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Quatrième point : ce que présente la suite.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Trois idées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à retenir</a:t>
            </a:r>
            <a:endParaRPr lang="en-US" sz="3600" dirty="0"/>
          </a:p>
        </p:txBody>
      </p:sp>
      <p:sp>
        <p:nvSpPr>
          <p:cNvPr id="3" name="Point 1 fond"/>
          <p:cNvSpPr/>
          <p:nvPr/>
        </p:nvSpPr>
        <p:spPr>
          <a:xfrm>
            <a:off x="64008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Point 1 pastille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assets/i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6" name="Point 1 étiquette"/>
          <p:cNvSpPr txBox="1"/>
          <p:nvPr/>
        </p:nvSpPr>
        <p:spPr>
          <a:xfrm>
            <a:off x="91440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7" name="Point 1 titre"/>
          <p:cNvSpPr txBox="1"/>
          <p:nvPr/>
        </p:nvSpPr>
        <p:spPr>
          <a:xfrm>
            <a:off x="91440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1</a:t>
            </a:r>
            <a:endParaRPr lang="en-US" sz="2000" dirty="0"/>
          </a:p>
        </p:txBody>
      </p:sp>
      <p:sp>
        <p:nvSpPr>
          <p:cNvPr id="8" name="Point 1 texte"/>
          <p:cNvSpPr txBox="1"/>
          <p:nvPr/>
        </p:nvSpPr>
        <p:spPr>
          <a:xfrm>
            <a:off x="91440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9" name="Point 2 fond"/>
          <p:cNvSpPr/>
          <p:nvPr/>
        </p:nvSpPr>
        <p:spPr>
          <a:xfrm>
            <a:off x="436626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Point 2 pastille"/>
          <p:cNvSpPr/>
          <p:nvPr/>
        </p:nvSpPr>
        <p:spPr>
          <a:xfrm>
            <a:off x="46405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assets/i-he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03704"/>
            <a:ext cx="347472" cy="347472"/>
          </a:xfrm>
          <a:prstGeom prst="rect">
            <a:avLst/>
          </a:prstGeom>
        </p:spPr>
      </p:pic>
      <p:sp>
        <p:nvSpPr>
          <p:cNvPr id="12" name="Point 2 étiquette"/>
          <p:cNvSpPr txBox="1"/>
          <p:nvPr/>
        </p:nvSpPr>
        <p:spPr>
          <a:xfrm>
            <a:off x="464058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13" name="Point 2 titre"/>
          <p:cNvSpPr txBox="1"/>
          <p:nvPr/>
        </p:nvSpPr>
        <p:spPr>
          <a:xfrm>
            <a:off x="464058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2</a:t>
            </a:r>
            <a:endParaRPr lang="en-US" sz="2000" dirty="0"/>
          </a:p>
        </p:txBody>
      </p:sp>
      <p:sp>
        <p:nvSpPr>
          <p:cNvPr id="14" name="Point 2 texte"/>
          <p:cNvSpPr txBox="1"/>
          <p:nvPr/>
        </p:nvSpPr>
        <p:spPr>
          <a:xfrm>
            <a:off x="464058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15" name="Point 3 fond"/>
          <p:cNvSpPr/>
          <p:nvPr/>
        </p:nvSpPr>
        <p:spPr>
          <a:xfrm>
            <a:off x="8092440" y="1783080"/>
            <a:ext cx="3429000" cy="402336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6" name="Point 3 pastille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assets/i-us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03704"/>
            <a:ext cx="347472" cy="347472"/>
          </a:xfrm>
          <a:prstGeom prst="rect">
            <a:avLst/>
          </a:prstGeom>
        </p:spPr>
      </p:pic>
      <p:sp>
        <p:nvSpPr>
          <p:cNvPr id="18" name="Point 3 étiquette"/>
          <p:cNvSpPr txBox="1"/>
          <p:nvPr/>
        </p:nvSpPr>
        <p:spPr>
          <a:xfrm>
            <a:off x="8366760" y="2834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MOT-CLÉ</a:t>
            </a:r>
            <a:endParaRPr lang="en-US" sz="1200" dirty="0"/>
          </a:p>
        </p:txBody>
      </p:sp>
      <p:sp>
        <p:nvSpPr>
          <p:cNvPr id="19" name="Point 3 titre"/>
          <p:cNvSpPr txBox="1"/>
          <p:nvPr/>
        </p:nvSpPr>
        <p:spPr>
          <a:xfrm>
            <a:off x="8366760" y="3154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Titre du point 3</a:t>
            </a:r>
            <a:endParaRPr lang="en-US" sz="2000" dirty="0"/>
          </a:p>
        </p:txBody>
      </p:sp>
      <p:sp>
        <p:nvSpPr>
          <p:cNvPr id="20" name="Point 3 texte"/>
          <p:cNvSpPr txBox="1"/>
          <p:nvPr/>
        </p:nvSpPr>
        <p:spPr>
          <a:xfrm>
            <a:off x="8366760" y="39776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phrases maximum pour expliquer ce 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Gouvernance fond"/>
          <p:cNvSpPr/>
          <p:nvPr/>
        </p:nvSpPr>
        <p:spPr>
          <a:xfrm>
            <a:off x="3584448" y="1645920"/>
            <a:ext cx="5029200" cy="109728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Gouvernance titre"/>
          <p:cNvSpPr txBox="1"/>
          <p:nvPr/>
        </p:nvSpPr>
        <p:spPr>
          <a:xfrm>
            <a:off x="3767328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Niveau 1</a:t>
            </a:r>
            <a:endParaRPr lang="en-US" sz="1800" dirty="0"/>
          </a:p>
        </p:txBody>
      </p:sp>
      <p:sp>
        <p:nvSpPr>
          <p:cNvPr id="5" name="Gouvernance texte"/>
          <p:cNvSpPr txBox="1"/>
          <p:nvPr/>
        </p:nvSpPr>
        <p:spPr>
          <a:xfrm>
            <a:off x="3767328" y="22128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Noms ou précision</a:t>
            </a:r>
            <a:endParaRPr lang="en-US" sz="1400" dirty="0"/>
          </a:p>
        </p:txBody>
      </p:sp>
      <p:sp>
        <p:nvSpPr>
          <p:cNvPr id="6" name="Lien 1"/>
          <p:cNvSpPr/>
          <p:nvPr/>
        </p:nvSpPr>
        <p:spPr>
          <a:xfrm>
            <a:off x="6096305" y="274320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Coordination fond"/>
          <p:cNvSpPr/>
          <p:nvPr/>
        </p:nvSpPr>
        <p:spPr>
          <a:xfrm>
            <a:off x="4087368" y="3063240"/>
            <a:ext cx="4023360" cy="109728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8" name="Coordination titre"/>
          <p:cNvSpPr txBox="1"/>
          <p:nvPr/>
        </p:nvSpPr>
        <p:spPr>
          <a:xfrm>
            <a:off x="4270248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Niveau 2</a:t>
            </a:r>
            <a:endParaRPr lang="en-US" sz="1800" dirty="0"/>
          </a:p>
        </p:txBody>
      </p:sp>
      <p:sp>
        <p:nvSpPr>
          <p:cNvPr id="9" name="Coordination texte"/>
          <p:cNvSpPr txBox="1"/>
          <p:nvPr/>
        </p:nvSpPr>
        <p:spPr>
          <a:xfrm>
            <a:off x="4270248" y="3630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Noms ou précision</a:t>
            </a:r>
            <a:endParaRPr lang="en-US" sz="1400" dirty="0"/>
          </a:p>
        </p:txBody>
      </p:sp>
      <p:sp>
        <p:nvSpPr>
          <p:cNvPr id="10" name="Lien 2"/>
          <p:cNvSpPr/>
          <p:nvPr/>
        </p:nvSpPr>
        <p:spPr>
          <a:xfrm>
            <a:off x="6096305" y="416052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Lien 3"/>
          <p:cNvSpPr/>
          <p:nvPr/>
        </p:nvSpPr>
        <p:spPr>
          <a:xfrm>
            <a:off x="3931920" y="4434840"/>
            <a:ext cx="4297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Lien 4"/>
          <p:cNvSpPr/>
          <p:nvPr/>
        </p:nvSpPr>
        <p:spPr>
          <a:xfrm>
            <a:off x="3931920" y="443484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Lien 5"/>
          <p:cNvSpPr/>
          <p:nvPr/>
        </p:nvSpPr>
        <p:spPr>
          <a:xfrm>
            <a:off x="8229600" y="443484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Thérapeutes fond"/>
          <p:cNvSpPr/>
          <p:nvPr/>
        </p:nvSpPr>
        <p:spPr>
          <a:xfrm>
            <a:off x="1828800" y="470916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5" name="Thérapeutes titre"/>
          <p:cNvSpPr txBox="1"/>
          <p:nvPr/>
        </p:nvSpPr>
        <p:spPr>
          <a:xfrm>
            <a:off x="201168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Niveau 3</a:t>
            </a:r>
            <a:endParaRPr lang="en-US" sz="1800" dirty="0"/>
          </a:p>
        </p:txBody>
      </p:sp>
      <p:sp>
        <p:nvSpPr>
          <p:cNvPr id="16" name="Thérapeutes texte"/>
          <p:cNvSpPr txBox="1"/>
          <p:nvPr/>
        </p:nvSpPr>
        <p:spPr>
          <a:xfrm>
            <a:off x="2011680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Noms ou précision</a:t>
            </a:r>
            <a:endParaRPr lang="en-US" sz="1400" dirty="0"/>
          </a:p>
        </p:txBody>
      </p:sp>
      <p:sp>
        <p:nvSpPr>
          <p:cNvPr id="17" name="Supervision fond"/>
          <p:cNvSpPr/>
          <p:nvPr/>
        </p:nvSpPr>
        <p:spPr>
          <a:xfrm>
            <a:off x="6153912" y="470916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8" name="Supervision titre"/>
          <p:cNvSpPr txBox="1"/>
          <p:nvPr/>
        </p:nvSpPr>
        <p:spPr>
          <a:xfrm>
            <a:off x="6336792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Niveau 3</a:t>
            </a:r>
            <a:endParaRPr lang="en-US" sz="1800" dirty="0"/>
          </a:p>
        </p:txBody>
      </p:sp>
      <p:sp>
        <p:nvSpPr>
          <p:cNvPr id="19" name="Supervision texte"/>
          <p:cNvSpPr txBox="1"/>
          <p:nvPr/>
        </p:nvSpPr>
        <p:spPr>
          <a:xfrm>
            <a:off x="6336792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Noms ou précision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Chiffre 1 fond"/>
          <p:cNvSpPr/>
          <p:nvPr/>
        </p:nvSpPr>
        <p:spPr>
          <a:xfrm>
            <a:off x="640080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4" name="Chiffre 1"/>
          <p:cNvSpPr txBox="1"/>
          <p:nvPr/>
        </p:nvSpPr>
        <p:spPr>
          <a:xfrm>
            <a:off x="82296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6000" dirty="0"/>
          </a:p>
        </p:txBody>
      </p:sp>
      <p:sp>
        <p:nvSpPr>
          <p:cNvPr id="5" name="Légende 1"/>
          <p:cNvSpPr txBox="1"/>
          <p:nvPr/>
        </p:nvSpPr>
        <p:spPr>
          <a:xfrm>
            <a:off x="82296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 1</a:t>
            </a:r>
            <a:endParaRPr lang="en-US" sz="1600" dirty="0"/>
          </a:p>
        </p:txBody>
      </p:sp>
      <p:sp>
        <p:nvSpPr>
          <p:cNvPr id="6" name="Chiffre 2 fond"/>
          <p:cNvSpPr/>
          <p:nvPr/>
        </p:nvSpPr>
        <p:spPr>
          <a:xfrm>
            <a:off x="3413455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7" name="Chiffre 2"/>
          <p:cNvSpPr txBox="1"/>
          <p:nvPr/>
        </p:nvSpPr>
        <p:spPr>
          <a:xfrm>
            <a:off x="3596335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6000" dirty="0"/>
          </a:p>
        </p:txBody>
      </p:sp>
      <p:sp>
        <p:nvSpPr>
          <p:cNvPr id="8" name="Légende 2"/>
          <p:cNvSpPr txBox="1"/>
          <p:nvPr/>
        </p:nvSpPr>
        <p:spPr>
          <a:xfrm>
            <a:off x="3596335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 2</a:t>
            </a:r>
            <a:endParaRPr lang="en-US" sz="1600" dirty="0"/>
          </a:p>
        </p:txBody>
      </p:sp>
      <p:sp>
        <p:nvSpPr>
          <p:cNvPr id="9" name="Chiffre 3 fond"/>
          <p:cNvSpPr/>
          <p:nvPr/>
        </p:nvSpPr>
        <p:spPr>
          <a:xfrm>
            <a:off x="6186830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0" name="Chiffre 3"/>
          <p:cNvSpPr txBox="1"/>
          <p:nvPr/>
        </p:nvSpPr>
        <p:spPr>
          <a:xfrm>
            <a:off x="636971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6000" dirty="0"/>
          </a:p>
        </p:txBody>
      </p:sp>
      <p:sp>
        <p:nvSpPr>
          <p:cNvPr id="11" name="Légende 3"/>
          <p:cNvSpPr txBox="1"/>
          <p:nvPr/>
        </p:nvSpPr>
        <p:spPr>
          <a:xfrm>
            <a:off x="636971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 3</a:t>
            </a:r>
            <a:endParaRPr lang="en-US" sz="1600" dirty="0"/>
          </a:p>
        </p:txBody>
      </p:sp>
      <p:sp>
        <p:nvSpPr>
          <p:cNvPr id="12" name="Chiffre 4 fond"/>
          <p:cNvSpPr/>
          <p:nvPr/>
        </p:nvSpPr>
        <p:spPr>
          <a:xfrm>
            <a:off x="8960206" y="1828800"/>
            <a:ext cx="2560320" cy="2926080"/>
          </a:xfrm>
          <a:prstGeom prst="roundRect">
            <a:avLst>
              <a:gd name="adj" fmla="val 6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sp>
        <p:nvSpPr>
          <p:cNvPr id="13" name="Chiffre 4"/>
          <p:cNvSpPr txBox="1"/>
          <p:nvPr/>
        </p:nvSpPr>
        <p:spPr>
          <a:xfrm>
            <a:off x="9143086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</a:t>
            </a:r>
            <a:endParaRPr lang="en-US" sz="4400" dirty="0"/>
          </a:p>
        </p:txBody>
      </p:sp>
      <p:sp>
        <p:nvSpPr>
          <p:cNvPr id="14" name="Légende 4"/>
          <p:cNvSpPr txBox="1"/>
          <p:nvPr/>
        </p:nvSpPr>
        <p:spPr>
          <a:xfrm>
            <a:off x="9143086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Indicateur 4</a:t>
            </a:r>
            <a:endParaRPr lang="en-US" sz="1600" dirty="0"/>
          </a:p>
        </p:txBody>
      </p:sp>
      <p:sp>
        <p:nvSpPr>
          <p:cNvPr id="15" name="Source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Période et source des chiffres.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74980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cture fond"/>
          <p:cNvSpPr/>
          <p:nvPr/>
        </p:nvSpPr>
        <p:spPr>
          <a:xfrm>
            <a:off x="8503920" y="1783080"/>
            <a:ext cx="3017520" cy="3931920"/>
          </a:xfrm>
          <a:prstGeom prst="roundRect">
            <a:avLst>
              <a:gd name="adj" fmla="val 545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Lecture titre"/>
          <p:cNvSpPr txBox="1"/>
          <p:nvPr/>
        </p:nvSpPr>
        <p:spPr>
          <a:xfrm>
            <a:off x="87325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qu’il faut retenir</a:t>
            </a:r>
            <a:endParaRPr lang="en-US" sz="1600" dirty="0"/>
          </a:p>
        </p:txBody>
      </p:sp>
      <p:sp>
        <p:nvSpPr>
          <p:cNvPr id="6" name="Lecture texte"/>
          <p:cNvSpPr txBox="1"/>
          <p:nvPr/>
        </p:nvSpPr>
        <p:spPr>
          <a:xfrm>
            <a:off x="8732520" y="246888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Une phrase pour dire ce que le graphique montre : la tendance, le pic, ce qui l’explique.</a:t>
            </a:r>
            <a:endParaRPr lang="en-US" sz="1600" dirty="0"/>
          </a:p>
        </p:txBody>
      </p:sp>
      <p:sp>
        <p:nvSpPr>
          <p:cNvPr id="7" name="Source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Données d’exemple, à remplacer.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651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 de la partie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Une phrase pour annoncer la partie.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CE DONT CAPSULE A BESOIN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Premier besoin, formulé de façon concrète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Deuxième besoin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Troisième besoin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09360" y="169164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CE QUE CAPSULE APPORTE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Premier apport, formulé de façon concrète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Deuxième apport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Troisième apport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Titre de la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diapositive</a:t>
            </a:r>
            <a:endParaRPr lang="en-US" sz="3600" dirty="0"/>
          </a:p>
        </p:txBody>
      </p:sp>
      <p:sp>
        <p:nvSpPr>
          <p:cNvPr id="3" name="Ligne du temps"/>
          <p:cNvSpPr/>
          <p:nvPr/>
        </p:nvSpPr>
        <p:spPr>
          <a:xfrm>
            <a:off x="1097280" y="2697480"/>
            <a:ext cx="9966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Jalon 1"/>
          <p:cNvSpPr/>
          <p:nvPr/>
        </p:nvSpPr>
        <p:spPr>
          <a:xfrm>
            <a:off x="10972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10972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Date 1"/>
          <p:cNvSpPr txBox="1"/>
          <p:nvPr/>
        </p:nvSpPr>
        <p:spPr>
          <a:xfrm>
            <a:off x="8229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1</a:t>
            </a:r>
            <a:endParaRPr lang="en-US" sz="2000" dirty="0"/>
          </a:p>
        </p:txBody>
      </p:sp>
      <p:sp>
        <p:nvSpPr>
          <p:cNvPr id="7" name="Étape 1"/>
          <p:cNvSpPr txBox="1"/>
          <p:nvPr/>
        </p:nvSpPr>
        <p:spPr>
          <a:xfrm>
            <a:off x="8229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à décrire</a:t>
            </a:r>
            <a:endParaRPr lang="en-US" sz="1600" dirty="0"/>
          </a:p>
        </p:txBody>
      </p:sp>
      <p:sp>
        <p:nvSpPr>
          <p:cNvPr id="8" name="Jalon 2"/>
          <p:cNvSpPr/>
          <p:nvPr/>
        </p:nvSpPr>
        <p:spPr>
          <a:xfrm>
            <a:off x="38404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9" name="Numéro 2"/>
          <p:cNvSpPr txBox="1"/>
          <p:nvPr/>
        </p:nvSpPr>
        <p:spPr>
          <a:xfrm>
            <a:off x="38404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Date 2"/>
          <p:cNvSpPr txBox="1"/>
          <p:nvPr/>
        </p:nvSpPr>
        <p:spPr>
          <a:xfrm>
            <a:off x="35661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2</a:t>
            </a:r>
            <a:endParaRPr lang="en-US" sz="2000" dirty="0"/>
          </a:p>
        </p:txBody>
      </p:sp>
      <p:sp>
        <p:nvSpPr>
          <p:cNvPr id="11" name="Étape 2"/>
          <p:cNvSpPr txBox="1"/>
          <p:nvPr/>
        </p:nvSpPr>
        <p:spPr>
          <a:xfrm>
            <a:off x="35661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à décrire</a:t>
            </a:r>
            <a:endParaRPr lang="en-US" sz="1600" dirty="0"/>
          </a:p>
        </p:txBody>
      </p:sp>
      <p:sp>
        <p:nvSpPr>
          <p:cNvPr id="12" name="Jalon 3"/>
          <p:cNvSpPr/>
          <p:nvPr/>
        </p:nvSpPr>
        <p:spPr>
          <a:xfrm>
            <a:off x="65836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13" name="Numéro 3"/>
          <p:cNvSpPr txBox="1"/>
          <p:nvPr/>
        </p:nvSpPr>
        <p:spPr>
          <a:xfrm>
            <a:off x="65836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Date 3"/>
          <p:cNvSpPr txBox="1"/>
          <p:nvPr/>
        </p:nvSpPr>
        <p:spPr>
          <a:xfrm>
            <a:off x="63093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3</a:t>
            </a:r>
            <a:endParaRPr lang="en-US" sz="2000" dirty="0"/>
          </a:p>
        </p:txBody>
      </p:sp>
      <p:sp>
        <p:nvSpPr>
          <p:cNvPr id="15" name="Étape 3"/>
          <p:cNvSpPr txBox="1"/>
          <p:nvPr/>
        </p:nvSpPr>
        <p:spPr>
          <a:xfrm>
            <a:off x="63093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à décrire</a:t>
            </a:r>
            <a:endParaRPr lang="en-US" sz="1600" dirty="0"/>
          </a:p>
        </p:txBody>
      </p:sp>
      <p:sp>
        <p:nvSpPr>
          <p:cNvPr id="16" name="Jalon 4"/>
          <p:cNvSpPr/>
          <p:nvPr/>
        </p:nvSpPr>
        <p:spPr>
          <a:xfrm>
            <a:off x="9326880" y="2286000"/>
            <a:ext cx="822960" cy="82296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17" name="Numéro 4"/>
          <p:cNvSpPr txBox="1"/>
          <p:nvPr/>
        </p:nvSpPr>
        <p:spPr>
          <a:xfrm>
            <a:off x="93268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Date 4"/>
          <p:cNvSpPr txBox="1"/>
          <p:nvPr/>
        </p:nvSpPr>
        <p:spPr>
          <a:xfrm>
            <a:off x="905256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4</a:t>
            </a:r>
            <a:endParaRPr lang="en-US" sz="2000" dirty="0"/>
          </a:p>
        </p:txBody>
      </p:sp>
      <p:sp>
        <p:nvSpPr>
          <p:cNvPr id="19" name="Étape 4"/>
          <p:cNvSpPr txBox="1"/>
          <p:nvPr/>
        </p:nvSpPr>
        <p:spPr>
          <a:xfrm>
            <a:off x="90525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Étape à décrire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Partenaires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et soutiens</a:t>
            </a:r>
            <a:endParaRPr lang="en-US" sz="3600" dirty="0"/>
          </a:p>
        </p:txBody>
      </p:sp>
      <p:sp>
        <p:nvSpPr>
          <p:cNvPr id="3" name="CVEC fond"/>
          <p:cNvSpPr/>
          <p:nvPr/>
        </p:nvSpPr>
        <p:spPr>
          <a:xfrm>
            <a:off x="64008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4" name="Image 0" descr="Logo CV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11335"/>
            <a:ext cx="2697480" cy="978130"/>
          </a:xfrm>
          <a:prstGeom prst="rect">
            <a:avLst/>
          </a:prstGeom>
        </p:spPr>
      </p:pic>
      <p:sp>
        <p:nvSpPr>
          <p:cNvPr id="5" name="CVEC nom"/>
          <p:cNvSpPr txBox="1"/>
          <p:nvPr/>
        </p:nvSpPr>
        <p:spPr>
          <a:xfrm>
            <a:off x="64008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CVEC</a:t>
            </a:r>
            <a:endParaRPr lang="en-US" sz="1600" dirty="0"/>
          </a:p>
        </p:txBody>
      </p:sp>
      <p:sp>
        <p:nvSpPr>
          <p:cNvPr id="6" name="ARS fond"/>
          <p:cNvSpPr/>
          <p:nvPr/>
        </p:nvSpPr>
        <p:spPr>
          <a:xfrm>
            <a:off x="436626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7" name="Image 1" descr="Logo 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48" y="2606040"/>
            <a:ext cx="2020824" cy="1188720"/>
          </a:xfrm>
          <a:prstGeom prst="rect">
            <a:avLst/>
          </a:prstGeom>
        </p:spPr>
      </p:pic>
      <p:sp>
        <p:nvSpPr>
          <p:cNvPr id="8" name="ARS nom"/>
          <p:cNvSpPr txBox="1"/>
          <p:nvPr/>
        </p:nvSpPr>
        <p:spPr>
          <a:xfrm>
            <a:off x="436626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ARS</a:t>
            </a:r>
            <a:endParaRPr lang="en-US" sz="1600" dirty="0"/>
          </a:p>
        </p:txBody>
      </p:sp>
      <p:sp>
        <p:nvSpPr>
          <p:cNvPr id="9" name="Université Paris 8 fond"/>
          <p:cNvSpPr/>
          <p:nvPr/>
        </p:nvSpPr>
        <p:spPr>
          <a:xfrm>
            <a:off x="8092440" y="2011680"/>
            <a:ext cx="342900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F1217">
                <a:alpha val="12000"/>
              </a:srgbClr>
            </a:outerShdw>
          </a:effectLst>
        </p:spPr>
      </p:sp>
      <p:pic>
        <p:nvPicPr>
          <p:cNvPr id="10" name="Image 2" descr="Logo Université Paris 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831" y="2606040"/>
            <a:ext cx="2450219" cy="1188720"/>
          </a:xfrm>
          <a:prstGeom prst="rect">
            <a:avLst/>
          </a:prstGeom>
        </p:spPr>
      </p:pic>
      <p:sp>
        <p:nvSpPr>
          <p:cNvPr id="11" name="Université Paris 8 nom"/>
          <p:cNvSpPr txBox="1"/>
          <p:nvPr/>
        </p:nvSpPr>
        <p:spPr>
          <a:xfrm>
            <a:off x="809244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Université Paris 8</a:t>
            </a:r>
            <a:endParaRPr lang="en-US" sz="1600" dirty="0"/>
          </a:p>
        </p:txBody>
      </p:sp>
      <p:sp>
        <p:nvSpPr>
          <p:cNvPr id="12" name="Porteurs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dispositif porté par les laboratoires DysCo, LAPPS et LPPC · Université Paris 8 Vincennes-Saint-Denis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E4B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114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Questions et échanges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capsule-contact@gmail.com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capsule-paris8.fr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">
  <a:themeElements>
    <a:clrScheme name="CAPSULE">
      <a:dk1>
        <a:srgbClr val="1F1217"/>
      </a:dk1>
      <a:lt1>
        <a:srgbClr val="FFFFFF"/>
      </a:lt1>
      <a:dk2>
        <a:srgbClr val="75151F"/>
      </a:dk2>
      <a:lt2>
        <a:srgbClr val="FDF5EB"/>
      </a:lt2>
      <a:accent1>
        <a:srgbClr val="AE164E"/>
      </a:accent1>
      <a:accent2>
        <a:srgbClr val="7B206B"/>
      </a:accent2>
      <a:accent3>
        <a:srgbClr val="E30F1B"/>
      </a:accent3>
      <a:accent4>
        <a:srgbClr val="F9DEE5"/>
      </a:accent4>
      <a:accent5>
        <a:srgbClr val="EADCF0"/>
      </a:accent5>
      <a:accent6>
        <a:srgbClr val="5E4B55"/>
      </a:accent6>
      <a:hlink>
        <a:srgbClr val="AE164E"/>
      </a:hlink>
      <a:folHlink>
        <a:srgbClr val="7B206B"/>
      </a:folHlink>
    </a:clrScheme>
    <a:fontScheme name="CAPSUL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CAPSULE - Université Paris 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- Modèle de présentation pour les directions et partenaires (texte à remplir)</dc:title>
  <dc:subject>PptxGenJS Presentation</dc:subject>
  <dc:creator>CAPSULE</dc:creator>
  <cp:lastModifiedBy>CAPSULE</cp:lastModifiedBy>
  <cp:revision>1</cp:revision>
  <dcterms:created xsi:type="dcterms:W3CDTF">2026-10-14T13:14:42Z</dcterms:created>
  <dcterms:modified xsi:type="dcterms:W3CDTF">2026-10-14T13:14:42Z</dcterms:modified>
</cp:coreProperties>
</file>