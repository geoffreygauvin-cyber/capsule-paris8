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8142558-076b-6fa0-982a-3590dcbd6734}">
          <p14:sldIdLst>
            <p14:sldId id="256"/>
            <p14:sldId id="257"/>
          </p14:sldIdLst>
        </p14:section>
        <p14:section name="Le dispositif" id="{aead6af1-085d-68ec-ac9a-0664dd64ce3a}">
          <p14:sldIdLst>
            <p14:sldId id="258"/>
            <p14:sldId id="259"/>
            <p14:sldId id="260"/>
          </p14:sldIdLst>
        </p14:section>
        <p14:section name="Résultats" id="{cd70be17-39bc-ea4a-4fc5-5ea144f0a7a3}">
          <p14:sldIdLst>
            <p14:sldId id="261"/>
            <p14:sldId id="262"/>
            <p14:sldId id="263"/>
          </p14:sldIdLst>
        </p14:section>
        <p14:section name="Perspectives" id="{939815cc-2577-b201-71bf-2f3a6bd302bf}">
          <p14:sldIdLst>
            <p14:sldId id="264"/>
            <p14:sldId id="265"/>
            <p14:sldId id="266"/>
            <p14:sldId id="267"/>
          </p14:sldIdLst>
        </p14:section>
        <p14:section name="Default-1" id="{50f1f3bc-9eb1-03de-0ee3-81d25ea43c9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Séances</c:v>
                </c:pt>
              </c:strCache>
            </c:strRef>
          </c:tx>
          <c:spPr>
            <a:solidFill>
              <a:srgbClr val="AE16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12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Sept.</c:v>
                  </c:pt>
                  <c:pt idx="1">
                    <c:v>Oct.</c:v>
                  </c:pt>
                  <c:pt idx="2">
                    <c:v>Nov.</c:v>
                  </c:pt>
                  <c:pt idx="3">
                    <c:v>Déc.</c:v>
                  </c:pt>
                  <c:pt idx="4">
                    <c:v>Janv.</c:v>
                  </c:pt>
                  <c:pt idx="5">
                    <c:v>Févr.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28</c:v>
                </c:pt>
                <c:pt idx="2">
                  <c:v>35</c:v>
                </c:pt>
                <c:pt idx="3">
                  <c:v>22</c:v>
                </c:pt>
                <c:pt idx="4">
                  <c:v>30</c:v>
                </c:pt>
                <c:pt idx="5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F12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E4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4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titre. Remplacez le titre (par exemple « Bilan 2025-2026 »), la ligne du bas (instance, date) et, si besoin, le sous-titre.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Résumé en quatre points : la direction doit pouvoir s'arrêter ici. Ajustez la dernière ligne au contenu réel de la présentation.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séparation. Gardez une phrase courte.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points qui répondent à : pourquoi ce dispositif ? Gardez les mêmes trois mots d'une présentation à l'autre.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Organisation type : adaptez les noms, ajoutez des niveaux si besoin (par exemple un·e responsable de pôle). Les traits sont des formes : ils se déplacent avec les cadres.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séparation. Gardez une phrase courte.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chiffres maximum. Indiquez toujours la période et la source. Les valeurs « 00 » sont à remplacer par celles du Suivi d'activité (demandes, séances, délai, satisfaction).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Graphique natif : clic droit &gt; Modifier les données pour saisir vos valeurs. Les données affichées sont un exemple.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séparation. Gardez une phrase courte.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Exemples à adapter : gardez trois points de chaque côté, formulés de façon concrète (lieu, heures, budget, date).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jalons maximum. Remplacez les libellés par des dates précises (mois et année).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Ajoutez ou retirez des logos selon les partenaires de la présentation. Gardez la même hauteur de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fin : ajoutez le nom et la fonction de l'interlocuteur·rice si besoin.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Titre-image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u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Deux-colonnes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Titre-seul-image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Message-image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Fin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S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2377440" cy="502832"/>
          </a:xfrm>
          <a:prstGeom prst="rect">
            <a:avLst/>
          </a:prstGeom>
        </p:spPr>
      </p:pic>
      <p:pic>
        <p:nvPicPr>
          <p:cNvPr id="3" name="Image 1" descr="Illustration : un ruban relie des étudiant·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896112"/>
            <a:ext cx="4023360" cy="50292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31520" y="1737360"/>
            <a:ext cx="60350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Titre de la présentation</a:t>
            </a: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4206240"/>
            <a:ext cx="5760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Sous-titre</a:t>
            </a:r>
            <a:endParaRPr lang="en-US" sz="1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731520" y="5806440"/>
            <a:ext cx="5760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Auteur·e · Date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40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01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517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Titre de la partie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Une phrase pour annoncer la partie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diapositive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1088136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Texte principal</a:t>
            </a: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CAPSULE · Université Paris 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lonne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diapositive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521208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Colonne de gauche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09360" y="1691640"/>
            <a:ext cx="521208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Colonne de droite</a:t>
            </a:r>
            <a:endParaRPr lang="en-US" sz="2000" dirty="0"/>
          </a:p>
        </p:txBody>
      </p:sp>
      <p:sp>
        <p:nvSpPr>
          <p:cNvPr id="5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CAPSULE · Université Paris 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diapositive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CAPSULE · Université Paris 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ss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S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943600"/>
            <a:ext cx="1920240" cy="40613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97280" y="1554480"/>
            <a:ext cx="905256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4600" b="1" dirty="0">
                <a:solidFill>
                  <a:schemeClr val="tx2"/>
                </a:solidFill>
              </a:rPr>
              <a:t>Le message à retenir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97280" y="443484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La phrase qui suit</a:t>
            </a:r>
            <a:endParaRPr lang="en-US" sz="26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S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2377440" cy="5028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10312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14800"/>
            <a:ext cx="7315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Contact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731520" y="173736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CAPSULE : </a:t>
            </a:r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bilan et perspectives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731520" y="42062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Consultations psychologiques gratuites pour les étudiant·es de Paris 8, assurées par des étudiant·es de Master de psychologie.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5806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Présentation à la direction · Rentrée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CAPSULE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en bref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10881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 dispositif gratuit : des consultations psychologiques pour les étudiant·es de Paris 8, sur rendez-vous, de 6 à 8 séances.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Des étudiant·es de Master de psychologie reçoivent, avec une supervision de l’équipe.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Porté par trois laboratoires de recherche de l’Université Paris 8 : DysCo, LAPPS et LPPC.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Ce que nous présentons aujourd’hui : le dispositif, son activité, ses besoins et le calendrier.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01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51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Le dispositif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Ce qu’est CAPSULE, qui le porte, comment il fonctionne.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Un dispositif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en trois points</a:t>
            </a:r>
            <a:endParaRPr lang="en-US" sz="3600" dirty="0"/>
          </a:p>
        </p:txBody>
      </p:sp>
      <p:sp>
        <p:nvSpPr>
          <p:cNvPr id="3" name="Point 1 fond"/>
          <p:cNvSpPr/>
          <p:nvPr/>
        </p:nvSpPr>
        <p:spPr>
          <a:xfrm>
            <a:off x="640080" y="1783080"/>
            <a:ext cx="3429000" cy="402336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4" name="Point 1 pastille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assets/i-euro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03704"/>
            <a:ext cx="347472" cy="347472"/>
          </a:xfrm>
          <a:prstGeom prst="rect">
            <a:avLst/>
          </a:prstGeom>
        </p:spPr>
      </p:pic>
      <p:sp>
        <p:nvSpPr>
          <p:cNvPr id="6" name="Point 1 étiquette"/>
          <p:cNvSpPr txBox="1"/>
          <p:nvPr/>
        </p:nvSpPr>
        <p:spPr>
          <a:xfrm>
            <a:off x="91440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ACCÈS</a:t>
            </a:r>
            <a:endParaRPr lang="en-US" sz="1200" dirty="0"/>
          </a:p>
        </p:txBody>
      </p:sp>
      <p:sp>
        <p:nvSpPr>
          <p:cNvPr id="7" name="Point 1 titre"/>
          <p:cNvSpPr txBox="1"/>
          <p:nvPr/>
        </p:nvSpPr>
        <p:spPr>
          <a:xfrm>
            <a:off x="914400" y="3154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Gratuit et rapide</a:t>
            </a:r>
            <a:endParaRPr lang="en-US" sz="2000" dirty="0"/>
          </a:p>
        </p:txBody>
      </p:sp>
      <p:sp>
        <p:nvSpPr>
          <p:cNvPr id="8" name="Point 1 texte"/>
          <p:cNvSpPr txBox="1"/>
          <p:nvPr/>
        </p:nvSpPr>
        <p:spPr>
          <a:xfrm>
            <a:off x="914400" y="39776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Consultations gratuites, sur rendez-vous, sans dossier ni justificatif, pour les étudiant·es de Paris 8.</a:t>
            </a:r>
            <a:endParaRPr lang="en-US" sz="1600" dirty="0"/>
          </a:p>
        </p:txBody>
      </p:sp>
      <p:sp>
        <p:nvSpPr>
          <p:cNvPr id="9" name="Point 2 fond"/>
          <p:cNvSpPr/>
          <p:nvPr/>
        </p:nvSpPr>
        <p:spPr>
          <a:xfrm>
            <a:off x="4366260" y="1783080"/>
            <a:ext cx="3429000" cy="402336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0" name="Point 2 pastille"/>
          <p:cNvSpPr/>
          <p:nvPr/>
        </p:nvSpPr>
        <p:spPr>
          <a:xfrm>
            <a:off x="464058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assets/i-cap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2203704"/>
            <a:ext cx="347472" cy="347472"/>
          </a:xfrm>
          <a:prstGeom prst="rect">
            <a:avLst/>
          </a:prstGeom>
        </p:spPr>
      </p:pic>
      <p:sp>
        <p:nvSpPr>
          <p:cNvPr id="12" name="Point 2 étiquette"/>
          <p:cNvSpPr txBox="1"/>
          <p:nvPr/>
        </p:nvSpPr>
        <p:spPr>
          <a:xfrm>
            <a:off x="464058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</a:t>
            </a:r>
            <a:endParaRPr lang="en-US" sz="1200" dirty="0"/>
          </a:p>
        </p:txBody>
      </p:sp>
      <p:sp>
        <p:nvSpPr>
          <p:cNvPr id="13" name="Point 2 titre"/>
          <p:cNvSpPr txBox="1"/>
          <p:nvPr/>
        </p:nvSpPr>
        <p:spPr>
          <a:xfrm>
            <a:off x="4640580" y="3154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formation par la pratique</a:t>
            </a:r>
            <a:endParaRPr lang="en-US" sz="2000" dirty="0"/>
          </a:p>
        </p:txBody>
      </p:sp>
      <p:sp>
        <p:nvSpPr>
          <p:cNvPr id="14" name="Point 2 texte"/>
          <p:cNvSpPr txBox="1"/>
          <p:nvPr/>
        </p:nvSpPr>
        <p:spPr>
          <a:xfrm>
            <a:off x="4640580" y="39776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étudiant·es de Master de psychologie reçoivent, encadré·es et supervisé·es par l’équipe.</a:t>
            </a:r>
            <a:endParaRPr lang="en-US" sz="1600" dirty="0"/>
          </a:p>
        </p:txBody>
      </p:sp>
      <p:sp>
        <p:nvSpPr>
          <p:cNvPr id="15" name="Point 3 fond"/>
          <p:cNvSpPr/>
          <p:nvPr/>
        </p:nvSpPr>
        <p:spPr>
          <a:xfrm>
            <a:off x="8092440" y="1783080"/>
            <a:ext cx="3429000" cy="402336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6" name="Point 3 pastille"/>
          <p:cNvSpPr/>
          <p:nvPr/>
        </p:nvSpPr>
        <p:spPr>
          <a:xfrm>
            <a:off x="836676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assets/i-flas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203704"/>
            <a:ext cx="347472" cy="347472"/>
          </a:xfrm>
          <a:prstGeom prst="rect">
            <a:avLst/>
          </a:prstGeom>
        </p:spPr>
      </p:pic>
      <p:sp>
        <p:nvSpPr>
          <p:cNvPr id="18" name="Point 3 étiquette"/>
          <p:cNvSpPr txBox="1"/>
          <p:nvPr/>
        </p:nvSpPr>
        <p:spPr>
          <a:xfrm>
            <a:off x="836676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RECHERCHE</a:t>
            </a:r>
            <a:endParaRPr lang="en-US" sz="1200" dirty="0"/>
          </a:p>
        </p:txBody>
      </p:sp>
      <p:sp>
        <p:nvSpPr>
          <p:cNvPr id="19" name="Point 3 titre"/>
          <p:cNvSpPr txBox="1"/>
          <p:nvPr/>
        </p:nvSpPr>
        <p:spPr>
          <a:xfrm>
            <a:off x="8366760" y="3154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Porté par trois laboratoires</a:t>
            </a:r>
            <a:endParaRPr lang="en-US" sz="2000" dirty="0"/>
          </a:p>
        </p:txBody>
      </p:sp>
      <p:sp>
        <p:nvSpPr>
          <p:cNvPr id="20" name="Point 3 texte"/>
          <p:cNvSpPr txBox="1"/>
          <p:nvPr/>
        </p:nvSpPr>
        <p:spPr>
          <a:xfrm>
            <a:off x="8366760" y="39776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DysCo, LAPPS et LPPC portent le dispositif au sein de l’Université Paris 8 Vincennes-Saint-Denis.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 fait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quoi</a:t>
            </a:r>
            <a:endParaRPr lang="en-US" sz="3600" dirty="0"/>
          </a:p>
        </p:txBody>
      </p:sp>
      <p:sp>
        <p:nvSpPr>
          <p:cNvPr id="3" name="Gouvernance fond"/>
          <p:cNvSpPr/>
          <p:nvPr/>
        </p:nvSpPr>
        <p:spPr>
          <a:xfrm>
            <a:off x="3584448" y="1645920"/>
            <a:ext cx="5029200" cy="109728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4" name="Gouvernance titre"/>
          <p:cNvSpPr txBox="1"/>
          <p:nvPr/>
        </p:nvSpPr>
        <p:spPr>
          <a:xfrm>
            <a:off x="3767328" y="1783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Laboratoires de recherche</a:t>
            </a:r>
            <a:endParaRPr lang="en-US" sz="1800" dirty="0"/>
          </a:p>
        </p:txBody>
      </p:sp>
      <p:sp>
        <p:nvSpPr>
          <p:cNvPr id="5" name="Gouvernance texte"/>
          <p:cNvSpPr txBox="1"/>
          <p:nvPr/>
        </p:nvSpPr>
        <p:spPr>
          <a:xfrm>
            <a:off x="3767328" y="22128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DysCo · LAPPS · LPPC</a:t>
            </a:r>
            <a:endParaRPr lang="en-US" sz="1400" dirty="0"/>
          </a:p>
        </p:txBody>
      </p:sp>
      <p:sp>
        <p:nvSpPr>
          <p:cNvPr id="6" name="Lien 1"/>
          <p:cNvSpPr/>
          <p:nvPr/>
        </p:nvSpPr>
        <p:spPr>
          <a:xfrm>
            <a:off x="6096305" y="2743200"/>
            <a:ext cx="0" cy="3200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Coordination fond"/>
          <p:cNvSpPr/>
          <p:nvPr/>
        </p:nvSpPr>
        <p:spPr>
          <a:xfrm>
            <a:off x="4087368" y="3063240"/>
            <a:ext cx="4023360" cy="109728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8" name="Coordination titre"/>
          <p:cNvSpPr txBox="1"/>
          <p:nvPr/>
        </p:nvSpPr>
        <p:spPr>
          <a:xfrm>
            <a:off x="4270248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Coordination</a:t>
            </a:r>
            <a:endParaRPr lang="en-US" sz="1800" dirty="0"/>
          </a:p>
        </p:txBody>
      </p:sp>
      <p:sp>
        <p:nvSpPr>
          <p:cNvPr id="9" name="Coordination texte"/>
          <p:cNvSpPr txBox="1"/>
          <p:nvPr/>
        </p:nvSpPr>
        <p:spPr>
          <a:xfrm>
            <a:off x="4270248" y="3630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Pilotage, comptes, suivi d’activité</a:t>
            </a:r>
            <a:endParaRPr lang="en-US" sz="1400" dirty="0"/>
          </a:p>
        </p:txBody>
      </p:sp>
      <p:sp>
        <p:nvSpPr>
          <p:cNvPr id="10" name="Lien 2"/>
          <p:cNvSpPr/>
          <p:nvPr/>
        </p:nvSpPr>
        <p:spPr>
          <a:xfrm>
            <a:off x="6096305" y="416052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1" name="Lien 3"/>
          <p:cNvSpPr/>
          <p:nvPr/>
        </p:nvSpPr>
        <p:spPr>
          <a:xfrm>
            <a:off x="3931920" y="4434840"/>
            <a:ext cx="42976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Lien 4"/>
          <p:cNvSpPr/>
          <p:nvPr/>
        </p:nvSpPr>
        <p:spPr>
          <a:xfrm>
            <a:off x="3931920" y="443484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3" name="Lien 5"/>
          <p:cNvSpPr/>
          <p:nvPr/>
        </p:nvSpPr>
        <p:spPr>
          <a:xfrm>
            <a:off x="8229600" y="443484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4" name="Thérapeutes fond"/>
          <p:cNvSpPr/>
          <p:nvPr/>
        </p:nvSpPr>
        <p:spPr>
          <a:xfrm>
            <a:off x="1828800" y="4709160"/>
            <a:ext cx="4206240" cy="1325880"/>
          </a:xfrm>
          <a:prstGeom prst="roundRect">
            <a:avLst>
              <a:gd name="adj" fmla="val 103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5" name="Thérapeutes titre"/>
          <p:cNvSpPr txBox="1"/>
          <p:nvPr/>
        </p:nvSpPr>
        <p:spPr>
          <a:xfrm>
            <a:off x="201168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Étudiant·es thérapeutes</a:t>
            </a:r>
            <a:endParaRPr lang="en-US" sz="1800" dirty="0"/>
          </a:p>
        </p:txBody>
      </p:sp>
      <p:sp>
        <p:nvSpPr>
          <p:cNvPr id="16" name="Thérapeutes texte"/>
          <p:cNvSpPr txBox="1"/>
          <p:nvPr/>
        </p:nvSpPr>
        <p:spPr>
          <a:xfrm>
            <a:off x="2011680" y="52760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 de psychologie : accueillent et suivent</a:t>
            </a:r>
            <a:endParaRPr lang="en-US" sz="1400" dirty="0"/>
          </a:p>
        </p:txBody>
      </p:sp>
      <p:sp>
        <p:nvSpPr>
          <p:cNvPr id="17" name="Supervision fond"/>
          <p:cNvSpPr/>
          <p:nvPr/>
        </p:nvSpPr>
        <p:spPr>
          <a:xfrm>
            <a:off x="6153912" y="4709160"/>
            <a:ext cx="4206240" cy="1325880"/>
          </a:xfrm>
          <a:prstGeom prst="roundRect">
            <a:avLst>
              <a:gd name="adj" fmla="val 1034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8" name="Supervision titre"/>
          <p:cNvSpPr txBox="1"/>
          <p:nvPr/>
        </p:nvSpPr>
        <p:spPr>
          <a:xfrm>
            <a:off x="6336792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Supervision</a:t>
            </a:r>
            <a:endParaRPr lang="en-US" sz="1800" dirty="0"/>
          </a:p>
        </p:txBody>
      </p:sp>
      <p:sp>
        <p:nvSpPr>
          <p:cNvPr id="19" name="Supervision texte"/>
          <p:cNvSpPr txBox="1"/>
          <p:nvPr/>
        </p:nvSpPr>
        <p:spPr>
          <a:xfrm>
            <a:off x="6336792" y="52760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Analyse des séances, soutien de l’équipe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02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51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Résultats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Ce que l’activité du dispositif montre.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L’activité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en chiffres</a:t>
            </a:r>
            <a:endParaRPr lang="en-US" sz="3600" dirty="0"/>
          </a:p>
        </p:txBody>
      </p:sp>
      <p:sp>
        <p:nvSpPr>
          <p:cNvPr id="3" name="Chiffre 1 fond"/>
          <p:cNvSpPr/>
          <p:nvPr/>
        </p:nvSpPr>
        <p:spPr>
          <a:xfrm>
            <a:off x="640080" y="1828800"/>
            <a:ext cx="2560320" cy="2926080"/>
          </a:xfrm>
          <a:prstGeom prst="roundRect">
            <a:avLst>
              <a:gd name="adj" fmla="val 6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4" name="Chiffre 1"/>
          <p:cNvSpPr txBox="1"/>
          <p:nvPr/>
        </p:nvSpPr>
        <p:spPr>
          <a:xfrm>
            <a:off x="822960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</a:t>
            </a:r>
            <a:endParaRPr lang="en-US" sz="6000" dirty="0"/>
          </a:p>
        </p:txBody>
      </p:sp>
      <p:sp>
        <p:nvSpPr>
          <p:cNvPr id="5" name="Légende 1"/>
          <p:cNvSpPr txBox="1"/>
          <p:nvPr/>
        </p:nvSpPr>
        <p:spPr>
          <a:xfrm>
            <a:off x="82296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demandes reçues</a:t>
            </a:r>
            <a:endParaRPr lang="en-US" sz="1600" dirty="0"/>
          </a:p>
        </p:txBody>
      </p:sp>
      <p:sp>
        <p:nvSpPr>
          <p:cNvPr id="6" name="Chiffre 2 fond"/>
          <p:cNvSpPr/>
          <p:nvPr/>
        </p:nvSpPr>
        <p:spPr>
          <a:xfrm>
            <a:off x="3413455" y="1828800"/>
            <a:ext cx="2560320" cy="2926080"/>
          </a:xfrm>
          <a:prstGeom prst="roundRect">
            <a:avLst>
              <a:gd name="adj" fmla="val 6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7" name="Chiffre 2"/>
          <p:cNvSpPr txBox="1"/>
          <p:nvPr/>
        </p:nvSpPr>
        <p:spPr>
          <a:xfrm>
            <a:off x="3596335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</a:t>
            </a:r>
            <a:endParaRPr lang="en-US" sz="6000" dirty="0"/>
          </a:p>
        </p:txBody>
      </p:sp>
      <p:sp>
        <p:nvSpPr>
          <p:cNvPr id="8" name="Légende 2"/>
          <p:cNvSpPr txBox="1"/>
          <p:nvPr/>
        </p:nvSpPr>
        <p:spPr>
          <a:xfrm>
            <a:off x="3596335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séances réalisées</a:t>
            </a:r>
            <a:endParaRPr lang="en-US" sz="1600" dirty="0"/>
          </a:p>
        </p:txBody>
      </p:sp>
      <p:sp>
        <p:nvSpPr>
          <p:cNvPr id="9" name="Chiffre 3 fond"/>
          <p:cNvSpPr/>
          <p:nvPr/>
        </p:nvSpPr>
        <p:spPr>
          <a:xfrm>
            <a:off x="6186830" y="1828800"/>
            <a:ext cx="2560320" cy="2926080"/>
          </a:xfrm>
          <a:prstGeom prst="roundRect">
            <a:avLst>
              <a:gd name="adj" fmla="val 6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0" name="Chiffre 3"/>
          <p:cNvSpPr txBox="1"/>
          <p:nvPr/>
        </p:nvSpPr>
        <p:spPr>
          <a:xfrm>
            <a:off x="6369710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 j</a:t>
            </a:r>
            <a:endParaRPr lang="en-US" sz="6000" dirty="0"/>
          </a:p>
        </p:txBody>
      </p:sp>
      <p:sp>
        <p:nvSpPr>
          <p:cNvPr id="11" name="Légende 3"/>
          <p:cNvSpPr txBox="1"/>
          <p:nvPr/>
        </p:nvSpPr>
        <p:spPr>
          <a:xfrm>
            <a:off x="636971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délai moyen de réponse</a:t>
            </a:r>
            <a:endParaRPr lang="en-US" sz="1600" dirty="0"/>
          </a:p>
        </p:txBody>
      </p:sp>
      <p:sp>
        <p:nvSpPr>
          <p:cNvPr id="12" name="Chiffre 4 fond"/>
          <p:cNvSpPr/>
          <p:nvPr/>
        </p:nvSpPr>
        <p:spPr>
          <a:xfrm>
            <a:off x="8960206" y="1828800"/>
            <a:ext cx="2560320" cy="2926080"/>
          </a:xfrm>
          <a:prstGeom prst="roundRect">
            <a:avLst>
              <a:gd name="adj" fmla="val 6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3" name="Chiffre 4"/>
          <p:cNvSpPr txBox="1"/>
          <p:nvPr/>
        </p:nvSpPr>
        <p:spPr>
          <a:xfrm>
            <a:off x="9143086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0,0 / 5</a:t>
            </a:r>
            <a:endParaRPr lang="en-US" sz="4400" dirty="0"/>
          </a:p>
        </p:txBody>
      </p:sp>
      <p:sp>
        <p:nvSpPr>
          <p:cNvPr id="14" name="Légende 4"/>
          <p:cNvSpPr txBox="1"/>
          <p:nvPr/>
        </p:nvSpPr>
        <p:spPr>
          <a:xfrm>
            <a:off x="9143086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satisfaction</a:t>
            </a:r>
            <a:endParaRPr lang="en-US" sz="1600" dirty="0"/>
          </a:p>
        </p:txBody>
      </p:sp>
      <p:sp>
        <p:nvSpPr>
          <p:cNvPr id="15" name="Source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 de mise en page : remplacez par les chiffres de la page « Suivi d’activité » de la plateforme (période et source à indiquer).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Des séances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mois après mois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45920"/>
          <a:ext cx="74980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cture fond"/>
          <p:cNvSpPr/>
          <p:nvPr/>
        </p:nvSpPr>
        <p:spPr>
          <a:xfrm>
            <a:off x="8503920" y="1783080"/>
            <a:ext cx="3017520" cy="3931920"/>
          </a:xfrm>
          <a:prstGeom prst="roundRect">
            <a:avLst>
              <a:gd name="adj" fmla="val 545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Lecture titre"/>
          <p:cNvSpPr txBox="1"/>
          <p:nvPr/>
        </p:nvSpPr>
        <p:spPr>
          <a:xfrm>
            <a:off x="873252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qu’il faut retenir</a:t>
            </a:r>
            <a:endParaRPr lang="en-US" sz="1600" dirty="0"/>
          </a:p>
        </p:txBody>
      </p:sp>
      <p:sp>
        <p:nvSpPr>
          <p:cNvPr id="6" name="Lecture texte"/>
          <p:cNvSpPr txBox="1"/>
          <p:nvPr/>
        </p:nvSpPr>
        <p:spPr>
          <a:xfrm>
            <a:off x="8732520" y="246888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phrase pour dire ce que le graphique montre : la tendance, le pic, ce qui l’explique.</a:t>
            </a:r>
            <a:endParaRPr lang="en-US" sz="1600" dirty="0"/>
          </a:p>
        </p:txBody>
      </p:sp>
      <p:sp>
        <p:nvSpPr>
          <p:cNvPr id="7" name="Source"/>
          <p:cNvSpPr txBox="1"/>
          <p:nvPr/>
        </p:nvSpPr>
        <p:spPr>
          <a:xfrm>
            <a:off x="64008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Données d’exemple, à remplacer.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03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51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Perspectives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Ce dont le dispositif a besoin et ce qu’il apporte.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Besoins et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apports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CE DONT CAPSULE A BESOIN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 lieu de consultation identifié sur le campus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Une reconnaissance des heures de supervision et de stage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 relais de communication auprès des étudiant·es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09360" y="169164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CE QUE CAPSULE APPORTE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 accès gratuit et rapide à une écoute psychologique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Une formation par la pratique pour les étudiant·es de Master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Des données anonymes sur les besoins des étudiant·es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Le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calendrier</a:t>
            </a:r>
            <a:endParaRPr lang="en-US" sz="3600" dirty="0"/>
          </a:p>
        </p:txBody>
      </p:sp>
      <p:sp>
        <p:nvSpPr>
          <p:cNvPr id="3" name="Ligne du temps"/>
          <p:cNvSpPr/>
          <p:nvPr/>
        </p:nvSpPr>
        <p:spPr>
          <a:xfrm>
            <a:off x="1097280" y="2697480"/>
            <a:ext cx="9966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Jalon 1"/>
          <p:cNvSpPr/>
          <p:nvPr/>
        </p:nvSpPr>
        <p:spPr>
          <a:xfrm>
            <a:off x="1097280" y="2286000"/>
            <a:ext cx="822960" cy="82296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</p:spPr>
      </p:sp>
      <p:sp>
        <p:nvSpPr>
          <p:cNvPr id="5" name="Numéro 1"/>
          <p:cNvSpPr txBox="1"/>
          <p:nvPr/>
        </p:nvSpPr>
        <p:spPr>
          <a:xfrm>
            <a:off x="10972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Date 1"/>
          <p:cNvSpPr txBox="1"/>
          <p:nvPr/>
        </p:nvSpPr>
        <p:spPr>
          <a:xfrm>
            <a:off x="82296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Rentrée</a:t>
            </a:r>
            <a:endParaRPr lang="en-US" sz="2000" dirty="0"/>
          </a:p>
        </p:txBody>
      </p:sp>
      <p:sp>
        <p:nvSpPr>
          <p:cNvPr id="7" name="Étape 1"/>
          <p:cNvSpPr txBox="1"/>
          <p:nvPr/>
        </p:nvSpPr>
        <p:spPr>
          <a:xfrm>
            <a:off x="82296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Ouverture des demandes</a:t>
            </a:r>
            <a:endParaRPr lang="en-US" sz="1600" dirty="0"/>
          </a:p>
        </p:txBody>
      </p:sp>
      <p:sp>
        <p:nvSpPr>
          <p:cNvPr id="8" name="Jalon 2"/>
          <p:cNvSpPr/>
          <p:nvPr/>
        </p:nvSpPr>
        <p:spPr>
          <a:xfrm>
            <a:off x="3840480" y="2286000"/>
            <a:ext cx="822960" cy="82296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</p:spPr>
      </p:sp>
      <p:sp>
        <p:nvSpPr>
          <p:cNvPr id="9" name="Numéro 2"/>
          <p:cNvSpPr txBox="1"/>
          <p:nvPr/>
        </p:nvSpPr>
        <p:spPr>
          <a:xfrm>
            <a:off x="38404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Date 2"/>
          <p:cNvSpPr txBox="1"/>
          <p:nvPr/>
        </p:nvSpPr>
        <p:spPr>
          <a:xfrm>
            <a:off x="356616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Mi-parcours</a:t>
            </a:r>
            <a:endParaRPr lang="en-US" sz="2000" dirty="0"/>
          </a:p>
        </p:txBody>
      </p:sp>
      <p:sp>
        <p:nvSpPr>
          <p:cNvPr id="11" name="Étape 2"/>
          <p:cNvSpPr txBox="1"/>
          <p:nvPr/>
        </p:nvSpPr>
        <p:spPr>
          <a:xfrm>
            <a:off x="356616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Bilan intermédiaire</a:t>
            </a:r>
            <a:endParaRPr lang="en-US" sz="1600" dirty="0"/>
          </a:p>
        </p:txBody>
      </p:sp>
      <p:sp>
        <p:nvSpPr>
          <p:cNvPr id="12" name="Jalon 3"/>
          <p:cNvSpPr/>
          <p:nvPr/>
        </p:nvSpPr>
        <p:spPr>
          <a:xfrm>
            <a:off x="6583680" y="2286000"/>
            <a:ext cx="822960" cy="82296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</p:spPr>
      </p:sp>
      <p:sp>
        <p:nvSpPr>
          <p:cNvPr id="13" name="Numéro 3"/>
          <p:cNvSpPr txBox="1"/>
          <p:nvPr/>
        </p:nvSpPr>
        <p:spPr>
          <a:xfrm>
            <a:off x="65836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Date 3"/>
          <p:cNvSpPr txBox="1"/>
          <p:nvPr/>
        </p:nvSpPr>
        <p:spPr>
          <a:xfrm>
            <a:off x="630936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 d’année</a:t>
            </a:r>
            <a:endParaRPr lang="en-US" sz="2000" dirty="0"/>
          </a:p>
        </p:txBody>
      </p:sp>
      <p:sp>
        <p:nvSpPr>
          <p:cNvPr id="15" name="Étape 3"/>
          <p:cNvSpPr txBox="1"/>
          <p:nvPr/>
        </p:nvSpPr>
        <p:spPr>
          <a:xfrm>
            <a:off x="630936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Bilan annuel</a:t>
            </a:r>
            <a:endParaRPr lang="en-US" sz="1600" dirty="0"/>
          </a:p>
        </p:txBody>
      </p:sp>
      <p:sp>
        <p:nvSpPr>
          <p:cNvPr id="16" name="Jalon 4"/>
          <p:cNvSpPr/>
          <p:nvPr/>
        </p:nvSpPr>
        <p:spPr>
          <a:xfrm>
            <a:off x="9326880" y="2286000"/>
            <a:ext cx="822960" cy="82296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</p:spPr>
      </p:sp>
      <p:sp>
        <p:nvSpPr>
          <p:cNvPr id="17" name="Numéro 4"/>
          <p:cNvSpPr txBox="1"/>
          <p:nvPr/>
        </p:nvSpPr>
        <p:spPr>
          <a:xfrm>
            <a:off x="93268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Date 4"/>
          <p:cNvSpPr txBox="1"/>
          <p:nvPr/>
        </p:nvSpPr>
        <p:spPr>
          <a:xfrm>
            <a:off x="905256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Année suivante</a:t>
            </a:r>
            <a:endParaRPr lang="en-US" sz="2000" dirty="0"/>
          </a:p>
        </p:txBody>
      </p:sp>
      <p:sp>
        <p:nvSpPr>
          <p:cNvPr id="19" name="Étape 4"/>
          <p:cNvSpPr txBox="1"/>
          <p:nvPr/>
        </p:nvSpPr>
        <p:spPr>
          <a:xfrm>
            <a:off x="905256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Reconduction du dispositif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Partenaires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et soutiens</a:t>
            </a:r>
            <a:endParaRPr lang="en-US" sz="3600" dirty="0"/>
          </a:p>
        </p:txBody>
      </p:sp>
      <p:sp>
        <p:nvSpPr>
          <p:cNvPr id="3" name="CVEC fond"/>
          <p:cNvSpPr/>
          <p:nvPr/>
        </p:nvSpPr>
        <p:spPr>
          <a:xfrm>
            <a:off x="640080" y="2011680"/>
            <a:ext cx="3429000" cy="237744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pic>
        <p:nvPicPr>
          <p:cNvPr id="4" name="Image 0" descr="Logo CVE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711335"/>
            <a:ext cx="2697480" cy="978130"/>
          </a:xfrm>
          <a:prstGeom prst="rect">
            <a:avLst/>
          </a:prstGeom>
        </p:spPr>
      </p:pic>
      <p:sp>
        <p:nvSpPr>
          <p:cNvPr id="5" name="CVEC nom"/>
          <p:cNvSpPr txBox="1"/>
          <p:nvPr/>
        </p:nvSpPr>
        <p:spPr>
          <a:xfrm>
            <a:off x="640080" y="4526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CVEC</a:t>
            </a:r>
            <a:endParaRPr lang="en-US" sz="1600" dirty="0"/>
          </a:p>
        </p:txBody>
      </p:sp>
      <p:sp>
        <p:nvSpPr>
          <p:cNvPr id="6" name="ARS fond"/>
          <p:cNvSpPr/>
          <p:nvPr/>
        </p:nvSpPr>
        <p:spPr>
          <a:xfrm>
            <a:off x="4366260" y="2011680"/>
            <a:ext cx="3429000" cy="237744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pic>
        <p:nvPicPr>
          <p:cNvPr id="7" name="Image 1" descr="Logo A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348" y="2606040"/>
            <a:ext cx="2020824" cy="1188720"/>
          </a:xfrm>
          <a:prstGeom prst="rect">
            <a:avLst/>
          </a:prstGeom>
        </p:spPr>
      </p:pic>
      <p:sp>
        <p:nvSpPr>
          <p:cNvPr id="8" name="ARS nom"/>
          <p:cNvSpPr txBox="1"/>
          <p:nvPr/>
        </p:nvSpPr>
        <p:spPr>
          <a:xfrm>
            <a:off x="4366260" y="4526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ARS</a:t>
            </a:r>
            <a:endParaRPr lang="en-US" sz="1600" dirty="0"/>
          </a:p>
        </p:txBody>
      </p:sp>
      <p:sp>
        <p:nvSpPr>
          <p:cNvPr id="9" name="Université Paris 8 fond"/>
          <p:cNvSpPr/>
          <p:nvPr/>
        </p:nvSpPr>
        <p:spPr>
          <a:xfrm>
            <a:off x="8092440" y="2011680"/>
            <a:ext cx="3429000" cy="237744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pic>
        <p:nvPicPr>
          <p:cNvPr id="10" name="Image 2" descr="Logo Université Paris 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831" y="2606040"/>
            <a:ext cx="2450219" cy="1188720"/>
          </a:xfrm>
          <a:prstGeom prst="rect">
            <a:avLst/>
          </a:prstGeom>
        </p:spPr>
      </p:pic>
      <p:sp>
        <p:nvSpPr>
          <p:cNvPr id="11" name="Université Paris 8 nom"/>
          <p:cNvSpPr txBox="1"/>
          <p:nvPr/>
        </p:nvSpPr>
        <p:spPr>
          <a:xfrm>
            <a:off x="8092440" y="4526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Université Paris 8</a:t>
            </a:r>
            <a:endParaRPr lang="en-US" sz="1600" dirty="0"/>
          </a:p>
        </p:txBody>
      </p:sp>
      <p:sp>
        <p:nvSpPr>
          <p:cNvPr id="12" name="Porteurs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dispositif porté par les laboratoires DysCo, LAPPS et LPPC · Université Paris 8 Vincennes-Saint-Denis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822960" y="41148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Questions et échanges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capsule-contact@gmail.com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capsule-paris8.fr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ULE">
  <a:themeElements>
    <a:clrScheme name="CAPSULE">
      <a:dk1>
        <a:srgbClr val="1F1217"/>
      </a:dk1>
      <a:lt1>
        <a:srgbClr val="FFFFFF"/>
      </a:lt1>
      <a:dk2>
        <a:srgbClr val="75151F"/>
      </a:dk2>
      <a:lt2>
        <a:srgbClr val="FDF5EB"/>
      </a:lt2>
      <a:accent1>
        <a:srgbClr val="AE164E"/>
      </a:accent1>
      <a:accent2>
        <a:srgbClr val="7B206B"/>
      </a:accent2>
      <a:accent3>
        <a:srgbClr val="E30F1B"/>
      </a:accent3>
      <a:accent4>
        <a:srgbClr val="F9DEE5"/>
      </a:accent4>
      <a:accent5>
        <a:srgbClr val="EADCF0"/>
      </a:accent5>
      <a:accent6>
        <a:srgbClr val="5E4B55"/>
      </a:accent6>
      <a:hlink>
        <a:srgbClr val="AE164E"/>
      </a:hlink>
      <a:folHlink>
        <a:srgbClr val="7B206B"/>
      </a:folHlink>
    </a:clrScheme>
    <a:fontScheme name="CAPSUL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CAPSULE - Université Paris 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CAPSULE - Modèle de présentation pour les directions et partenaires</dc:title>
  <dc:subject>PptxGenJS Presentation</dc:subject>
  <dc:creator>CAPSULE</dc:creator>
  <cp:lastModifiedBy>CAPSULE</cp:lastModifiedBy>
  <cp:revision>1</cp:revision>
  <dcterms:created xsi:type="dcterms:W3CDTF">2026-10-14T13:08:32Z</dcterms:created>
  <dcterms:modified xsi:type="dcterms:W3CDTF">2026-10-14T13:08:32Z</dcterms:modified>
</cp:coreProperties>
</file>